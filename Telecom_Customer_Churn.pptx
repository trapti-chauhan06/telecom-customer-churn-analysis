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Telecom Customer Churn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Project Objective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6583680" cy="4572000"/>
          </a:xfrm>
          <a:prstGeom prst="roundRect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Place notebook output / chart screenshot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1" y="1097280"/>
            <a:ext cx="46126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sz="1600" dirty="0"/>
              <a:t>Key Points</a:t>
            </a:r>
            <a:r>
              <a:rPr lang="en-IN" sz="1600" dirty="0"/>
              <a:t>Predict whether a telecom customer will churn.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Analyze customer behaviour using SQL and Python.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Compare multiple machine learning models.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Identify important factors affecting churn using SHAP.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Provide business recommendations to reduce customer churn.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547360" cy="4572000"/>
          </a:xfrm>
          <a:prstGeom prst="roundRect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Place notebook output / chart screenshot here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471328-387F-C13C-1C8B-4EC8E900002A}"/>
              </a:ext>
            </a:extLst>
          </p:cNvPr>
          <p:cNvSpPr txBox="1"/>
          <p:nvPr/>
        </p:nvSpPr>
        <p:spPr>
          <a:xfrm>
            <a:off x="6431280" y="4617720"/>
            <a:ext cx="554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Target Variable: </a:t>
            </a:r>
            <a:r>
              <a:rPr lang="en-IN" b="1" dirty="0"/>
              <a:t>Churn (Yes/No)</a:t>
            </a:r>
            <a:endParaRPr lang="en-IN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8ED0F17-FD37-D0D8-DAFD-7C47109EA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278790"/>
              </p:ext>
            </p:extLst>
          </p:nvPr>
        </p:nvGraphicFramePr>
        <p:xfrm>
          <a:off x="6766560" y="1097280"/>
          <a:ext cx="4876800" cy="30988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448560">
                  <a:extLst>
                    <a:ext uri="{9D8B030D-6E8A-4147-A177-3AD203B41FA5}">
                      <a16:colId xmlns:a16="http://schemas.microsoft.com/office/drawing/2014/main" val="814891591"/>
                    </a:ext>
                  </a:extLst>
                </a:gridCol>
                <a:gridCol w="2428240">
                  <a:extLst>
                    <a:ext uri="{9D8B030D-6E8A-4147-A177-3AD203B41FA5}">
                      <a16:colId xmlns:a16="http://schemas.microsoft.com/office/drawing/2014/main" val="496696865"/>
                    </a:ext>
                  </a:extLst>
                </a:gridCol>
              </a:tblGrid>
              <a:tr h="510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2839593"/>
                  </a:ext>
                </a:extLst>
              </a:tr>
              <a:tr h="517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Telco Customer Churn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021489"/>
                  </a:ext>
                </a:extLst>
              </a:tr>
              <a:tr h="517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/>
                        <a:t>(your dataset rows)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9218036"/>
                  </a:ext>
                </a:extLst>
              </a:tr>
              <a:tr h="517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(your dataset columns)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61028"/>
                  </a:ext>
                </a:extLst>
              </a:tr>
              <a:tr h="517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Target 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336524"/>
                  </a:ext>
                </a:extLst>
              </a:tr>
              <a:tr h="517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1839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11440" y="1097280"/>
            <a:ext cx="40538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lang="en-IN" sz="2000" dirty="0"/>
              <a:t>Data Cleaning Performed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Converted </a:t>
            </a:r>
            <a:r>
              <a:rPr lang="en-IN" sz="1600" b="1" dirty="0"/>
              <a:t>TotalCharges</a:t>
            </a:r>
            <a:r>
              <a:rPr lang="en-IN" sz="1600" dirty="0"/>
              <a:t> to numeric.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Handled missing values.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Removed duplicate records (if any).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Encoded categorical variables.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Prepared dataset for machine learning.</a:t>
            </a:r>
            <a:endParaRPr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IN" dirty="0"/>
              <a:t>Exploratory Data Analysis (</a:t>
            </a:r>
            <a:r>
              <a:rPr dirty="0"/>
              <a:t>EDA</a:t>
            </a:r>
            <a:r>
              <a:rPr lang="en-IN" dirty="0"/>
              <a:t>)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6583680" cy="4572000"/>
          </a:xfrm>
          <a:prstGeom prst="roundRect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Place notebook output / chart screenshot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097280"/>
            <a:ext cx="45618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sz="2000" dirty="0"/>
              <a:t>Key </a:t>
            </a:r>
            <a:r>
              <a:rPr lang="en-IN" sz="2000" dirty="0"/>
              <a:t>Observations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Month-to-month contracts show higher churn.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 Customers with short tenure churn more.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Monthly charges influence churn.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Customer behaviour differs across contract and service types.</a:t>
            </a: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SQL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6583680" cy="4572000"/>
          </a:xfrm>
          <a:prstGeom prst="roundRect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Place notebook output / chart screenshot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097280"/>
            <a:ext cx="402336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dirty="0"/>
              <a:t>Key Points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Total Customers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Contract-wise Churn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Payment Method Analysis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Internet Service Analysis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Monthly Charges by Churn</a:t>
            </a:r>
            <a:endParaRPr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376634-7FAA-8FAE-188A-F079FFD4AEC2}"/>
              </a:ext>
            </a:extLst>
          </p:cNvPr>
          <p:cNvSpPr txBox="1"/>
          <p:nvPr/>
        </p:nvSpPr>
        <p:spPr>
          <a:xfrm>
            <a:off x="7406640" y="4327326"/>
            <a:ext cx="47853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SQL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Aggregated customer statistics.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Compared churn across services.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Identified customer behaviour patterns</a:t>
            </a:r>
            <a:r>
              <a:rPr lang="en-IN" sz="16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ML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6583680" cy="4572000"/>
          </a:xfrm>
          <a:prstGeom prst="roundRect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Place notebook output / chart screenshot here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226676A-596B-0ECB-616A-C10853114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88676"/>
              </p:ext>
            </p:extLst>
          </p:nvPr>
        </p:nvGraphicFramePr>
        <p:xfrm>
          <a:off x="7589520" y="1866721"/>
          <a:ext cx="4236720" cy="2187120"/>
        </p:xfrm>
        <a:graphic>
          <a:graphicData uri="http://schemas.openxmlformats.org/drawingml/2006/table">
            <a:tbl>
              <a:tblPr/>
              <a:tblGrid>
                <a:gridCol w="2118360">
                  <a:extLst>
                    <a:ext uri="{9D8B030D-6E8A-4147-A177-3AD203B41FA5}">
                      <a16:colId xmlns:a16="http://schemas.microsoft.com/office/drawing/2014/main" val="4076314238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965524344"/>
                    </a:ext>
                  </a:extLst>
                </a:gridCol>
              </a:tblGrid>
              <a:tr h="39521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991264"/>
                  </a:ext>
                </a:extLst>
              </a:tr>
              <a:tr h="5409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678272"/>
                  </a:ext>
                </a:extLst>
              </a:tr>
              <a:tr h="6254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799164"/>
                  </a:ext>
                </a:extLst>
              </a:tr>
              <a:tr h="6254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5057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7A5C794-CEFD-4D33-407E-B30861B5BFEA}"/>
              </a:ext>
            </a:extLst>
          </p:cNvPr>
          <p:cNvSpPr txBox="1"/>
          <p:nvPr/>
        </p:nvSpPr>
        <p:spPr>
          <a:xfrm>
            <a:off x="548640" y="5852160"/>
            <a:ext cx="11094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Workflow</a:t>
            </a:r>
            <a:endParaRPr lang="en-IN" dirty="0"/>
          </a:p>
          <a:p>
            <a:r>
              <a:rPr lang="en-IN" dirty="0"/>
              <a:t>Dataset → Preprocessing → Train-Test Split → Model Training → Prediction → Evaluation</a:t>
            </a:r>
          </a:p>
          <a:p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4DD87E9-5CA1-596F-C7C7-85F120F89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653390"/>
              </p:ext>
            </p:extLst>
          </p:nvPr>
        </p:nvGraphicFramePr>
        <p:xfrm>
          <a:off x="7752080" y="1036320"/>
          <a:ext cx="3891280" cy="351536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945640">
                  <a:extLst>
                    <a:ext uri="{9D8B030D-6E8A-4147-A177-3AD203B41FA5}">
                      <a16:colId xmlns:a16="http://schemas.microsoft.com/office/drawing/2014/main" val="3607269048"/>
                    </a:ext>
                  </a:extLst>
                </a:gridCol>
                <a:gridCol w="1945640">
                  <a:extLst>
                    <a:ext uri="{9D8B030D-6E8A-4147-A177-3AD203B41FA5}">
                      <a16:colId xmlns:a16="http://schemas.microsoft.com/office/drawing/2014/main" val="2363327149"/>
                    </a:ext>
                  </a:extLst>
                </a:gridCol>
              </a:tblGrid>
              <a:tr h="863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9636392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Baseline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076319"/>
                  </a:ext>
                </a:extLst>
              </a:tr>
              <a:tr h="835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Rule-based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9466048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Ensemble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9959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Model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6583680" cy="4572000"/>
          </a:xfrm>
          <a:prstGeom prst="roundRect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Place notebook output / chart screenshot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74080"/>
            <a:ext cx="74999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rPr lang="en-IN" sz="2000" b="1" dirty="0"/>
              <a:t>Random Forest achieved the highest accuracy among the evaluated models.</a:t>
            </a:r>
            <a:endParaRPr sz="20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714EF0-BD9B-260E-974D-D80E4BD182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214072"/>
              </p:ext>
            </p:extLst>
          </p:nvPr>
        </p:nvGraphicFramePr>
        <p:xfrm>
          <a:off x="7865690" y="1005840"/>
          <a:ext cx="3889430" cy="293624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944715">
                  <a:extLst>
                    <a:ext uri="{9D8B030D-6E8A-4147-A177-3AD203B41FA5}">
                      <a16:colId xmlns:a16="http://schemas.microsoft.com/office/drawing/2014/main" val="2732112004"/>
                    </a:ext>
                  </a:extLst>
                </a:gridCol>
                <a:gridCol w="1944715">
                  <a:extLst>
                    <a:ext uri="{9D8B030D-6E8A-4147-A177-3AD203B41FA5}">
                      <a16:colId xmlns:a16="http://schemas.microsoft.com/office/drawing/2014/main" val="3021026015"/>
                    </a:ext>
                  </a:extLst>
                </a:gridCol>
              </a:tblGrid>
              <a:tr h="734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2684894"/>
                  </a:ext>
                </a:extLst>
              </a:tr>
              <a:tr h="734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(your result)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8698957"/>
                  </a:ext>
                </a:extLst>
              </a:tr>
              <a:tr h="734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(your result)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8706886"/>
                  </a:ext>
                </a:extLst>
              </a:tr>
              <a:tr h="734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/>
                        <a:t>(your result)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0220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SHAP Feature Importance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6583680" cy="4572000"/>
          </a:xfrm>
          <a:prstGeom prst="roundRect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Place notebook output / chart screenshot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3040" y="1097280"/>
            <a:ext cx="400304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lang="en-IN" sz="2000" dirty="0"/>
              <a:t>Important Features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dirty="0"/>
              <a:t>Contract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dirty="0"/>
              <a:t>Tenure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dirty="0"/>
              <a:t>MonthlyCharges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dirty="0"/>
              <a:t>TotalCharges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dirty="0"/>
              <a:t>InternetService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595323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lang="en-IN" sz="1600" b="1" dirty="0"/>
              <a:t>SHAP explains which features contributed most to churn prediction.</a:t>
            </a:r>
            <a:endParaRPr sz="16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24712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dirty="0"/>
              <a:t>Key </a:t>
            </a:r>
            <a:r>
              <a:rPr lang="en-IN" dirty="0"/>
              <a:t>Insights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Month-to-month customers are more likely to churn.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Short-tenure customers show higher churn.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Higher monthly charges are associated with churn.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Contract type is an important predictor.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Random Forest performed best.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SHAP identified the most influential features.</a:t>
            </a:r>
            <a:endParaRPr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16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IN" dirty="0"/>
              <a:t>Business </a:t>
            </a:r>
            <a:r>
              <a:rPr dirty="0"/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24712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dirty="0"/>
              <a:t>Key Points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Offer discounts to month-to-month customers.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Encourage long-term contracts.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Reward loyal customers.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Monitor high-risk customers.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Improve customer support.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Use predictive analytics for retention.</a:t>
            </a:r>
            <a:endParaRPr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Telecom Customer Churn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IN" dirty="0"/>
              <a:t>Conclusion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08712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dirty="0"/>
              <a:t>This project successfully analyzed telecom customer churn using SQL, Python, and machine learning techniques.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dirty="0"/>
              <a:t>Multiple classification models were trained and evaluated, and SHAP was used to explain model predictions.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dirty="0"/>
              <a:t>The findings can help telecom companies identify customers at risk of leaving and implement effective retention strategies.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B221D4-FC80-D971-27DD-BD3D489E0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9646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441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448</Words>
  <Application>Microsoft Office PowerPoint</Application>
  <PresentationFormat>Widescreen</PresentationFormat>
  <Paragraphs>102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Trapti Chauhan</cp:lastModifiedBy>
  <cp:revision>2</cp:revision>
  <dcterms:created xsi:type="dcterms:W3CDTF">2013-01-27T09:14:16Z</dcterms:created>
  <dcterms:modified xsi:type="dcterms:W3CDTF">2026-07-21T06:11:07Z</dcterms:modified>
  <cp:category/>
</cp:coreProperties>
</file>