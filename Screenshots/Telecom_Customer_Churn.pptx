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EF4D8-EDA2-4DAF-BB49-8CD63FFABCD6}" v="13" dt="2026-07-23T05:38:54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pti Chauhan" userId="67d7e26835183ae7" providerId="LiveId" clId="{923EE061-BD1F-492F-80FF-69D0CD3BEC3A}"/>
    <pc:docChg chg="undo custSel modSld">
      <pc:chgData name="Trapti Chauhan" userId="67d7e26835183ae7" providerId="LiveId" clId="{923EE061-BD1F-492F-80FF-69D0CD3BEC3A}" dt="2026-07-23T07:12:39.625" v="543" actId="14100"/>
      <pc:docMkLst>
        <pc:docMk/>
      </pc:docMkLst>
      <pc:sldChg chg="addSp delSp modSp mod">
        <pc:chgData name="Trapti Chauhan" userId="67d7e26835183ae7" providerId="LiveId" clId="{923EE061-BD1F-492F-80FF-69D0CD3BEC3A}" dt="2026-07-23T07:12:39.625" v="543" actId="14100"/>
        <pc:sldMkLst>
          <pc:docMk/>
          <pc:sldMk cId="0" sldId="256"/>
        </pc:sldMkLst>
        <pc:spChg chg="del mod">
          <ac:chgData name="Trapti Chauhan" userId="67d7e26835183ae7" providerId="LiveId" clId="{923EE061-BD1F-492F-80FF-69D0CD3BEC3A}" dt="2026-07-23T06:01:40.977" v="525" actId="478"/>
          <ac:spMkLst>
            <pc:docMk/>
            <pc:sldMk cId="0" sldId="256"/>
            <ac:spMk id="4" creationId="{00000000-0000-0000-0000-000000000000}"/>
          </ac:spMkLst>
        </pc:spChg>
        <pc:picChg chg="add del mod">
          <ac:chgData name="Trapti Chauhan" userId="67d7e26835183ae7" providerId="LiveId" clId="{923EE061-BD1F-492F-80FF-69D0CD3BEC3A}" dt="2026-07-23T07:11:31.640" v="537" actId="478"/>
          <ac:picMkLst>
            <pc:docMk/>
            <pc:sldMk cId="0" sldId="256"/>
            <ac:picMk id="5" creationId="{B11CF40A-D324-4FBA-EEFF-38DB97597ACD}"/>
          </ac:picMkLst>
        </pc:picChg>
        <pc:picChg chg="add mod">
          <ac:chgData name="Trapti Chauhan" userId="67d7e26835183ae7" providerId="LiveId" clId="{923EE061-BD1F-492F-80FF-69D0CD3BEC3A}" dt="2026-07-23T07:12:39.625" v="543" actId="14100"/>
          <ac:picMkLst>
            <pc:docMk/>
            <pc:sldMk cId="0" sldId="256"/>
            <ac:picMk id="7" creationId="{575A7DD6-B8A0-BDF1-4228-448D699785B1}"/>
          </ac:picMkLst>
        </pc:picChg>
      </pc:sldChg>
      <pc:sldChg chg="addSp delSp modSp mod">
        <pc:chgData name="Trapti Chauhan" userId="67d7e26835183ae7" providerId="LiveId" clId="{923EE061-BD1F-492F-80FF-69D0CD3BEC3A}" dt="2026-07-23T06:01:31.194" v="522" actId="14100"/>
        <pc:sldMkLst>
          <pc:docMk/>
          <pc:sldMk cId="0" sldId="257"/>
        </pc:sldMkLst>
        <pc:spChg chg="del mod">
          <ac:chgData name="Trapti Chauhan" userId="67d7e26835183ae7" providerId="LiveId" clId="{923EE061-BD1F-492F-80FF-69D0CD3BEC3A}" dt="2026-07-23T05:39:00.173" v="515" actId="478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Trapti Chauhan" userId="67d7e26835183ae7" providerId="LiveId" clId="{923EE061-BD1F-492F-80FF-69D0CD3BEC3A}" dt="2026-07-23T06:01:31.194" v="522" actId="14100"/>
          <ac:picMkLst>
            <pc:docMk/>
            <pc:sldMk cId="0" sldId="257"/>
            <ac:picMk id="6" creationId="{5C19A564-2277-60CF-8EA4-5AE8D3228A9B}"/>
          </ac:picMkLst>
        </pc:picChg>
      </pc:sldChg>
      <pc:sldChg chg="addSp delSp modSp mod">
        <pc:chgData name="Trapti Chauhan" userId="67d7e26835183ae7" providerId="LiveId" clId="{923EE061-BD1F-492F-80FF-69D0CD3BEC3A}" dt="2026-07-23T05:12:24.296" v="216" actId="20577"/>
        <pc:sldMkLst>
          <pc:docMk/>
          <pc:sldMk cId="0" sldId="258"/>
        </pc:sldMkLst>
        <pc:spChg chg="del">
          <ac:chgData name="Trapti Chauhan" userId="67d7e26835183ae7" providerId="LiveId" clId="{923EE061-BD1F-492F-80FF-69D0CD3BEC3A}" dt="2026-07-23T05:06:23.309" v="13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5:12:24.296" v="216" actId="20577"/>
          <ac:spMkLst>
            <pc:docMk/>
            <pc:sldMk cId="0" sldId="258"/>
            <ac:spMk id="15" creationId="{0B471328-387F-C13C-1C8B-4EC8E900002A}"/>
          </ac:spMkLst>
        </pc:spChg>
        <pc:graphicFrameChg chg="mod modGraphic">
          <ac:chgData name="Trapti Chauhan" userId="67d7e26835183ae7" providerId="LiveId" clId="{923EE061-BD1F-492F-80FF-69D0CD3BEC3A}" dt="2026-07-23T05:12:17.997" v="212" actId="14100"/>
          <ac:graphicFrameMkLst>
            <pc:docMk/>
            <pc:sldMk cId="0" sldId="258"/>
            <ac:graphicFrameMk id="16" creationId="{48ED0F17-FD37-D0D8-DAFD-7C47109EAF08}"/>
          </ac:graphicFrameMkLst>
        </pc:graphicFrameChg>
        <pc:picChg chg="add del mod">
          <ac:chgData name="Trapti Chauhan" userId="67d7e26835183ae7" providerId="LiveId" clId="{923EE061-BD1F-492F-80FF-69D0CD3BEC3A}" dt="2026-07-23T05:06:39.332" v="143" actId="478"/>
          <ac:picMkLst>
            <pc:docMk/>
            <pc:sldMk cId="0" sldId="258"/>
            <ac:picMk id="5" creationId="{02350B0B-4CC5-0FB3-7F55-69A8EBA32B53}"/>
          </ac:picMkLst>
        </pc:picChg>
        <pc:picChg chg="add del mod">
          <ac:chgData name="Trapti Chauhan" userId="67d7e26835183ae7" providerId="LiveId" clId="{923EE061-BD1F-492F-80FF-69D0CD3BEC3A}" dt="2026-07-23T05:11:37.850" v="203" actId="478"/>
          <ac:picMkLst>
            <pc:docMk/>
            <pc:sldMk cId="0" sldId="258"/>
            <ac:picMk id="7" creationId="{E5B49F2C-F47D-E33D-1439-AC5A15C75A75}"/>
          </ac:picMkLst>
        </pc:picChg>
        <pc:picChg chg="add mod">
          <ac:chgData name="Trapti Chauhan" userId="67d7e26835183ae7" providerId="LiveId" clId="{923EE061-BD1F-492F-80FF-69D0CD3BEC3A}" dt="2026-07-23T05:12:05.170" v="210" actId="14100"/>
          <ac:picMkLst>
            <pc:docMk/>
            <pc:sldMk cId="0" sldId="258"/>
            <ac:picMk id="9" creationId="{F81DDA17-3C93-444A-BF11-EFEDA09FD634}"/>
          </ac:picMkLst>
        </pc:picChg>
      </pc:sldChg>
      <pc:sldChg chg="addSp modSp mod">
        <pc:chgData name="Trapti Chauhan" userId="67d7e26835183ae7" providerId="LiveId" clId="{923EE061-BD1F-492F-80FF-69D0CD3BEC3A}" dt="2026-07-23T04:55:34.404" v="45"/>
        <pc:sldMkLst>
          <pc:docMk/>
          <pc:sldMk cId="0" sldId="259"/>
        </pc:sldMkLst>
        <pc:spChg chg="mod">
          <ac:chgData name="Trapti Chauhan" userId="67d7e26835183ae7" providerId="LiveId" clId="{923EE061-BD1F-492F-80FF-69D0CD3BEC3A}" dt="2026-07-23T04:55:34.404" v="45"/>
          <ac:spMkLst>
            <pc:docMk/>
            <pc:sldMk cId="0" sldId="259"/>
            <ac:spMk id="4" creationId="{00000000-0000-0000-0000-000000000000}"/>
          </ac:spMkLst>
        </pc:spChg>
        <pc:picChg chg="add mod">
          <ac:chgData name="Trapti Chauhan" userId="67d7e26835183ae7" providerId="LiveId" clId="{923EE061-BD1F-492F-80FF-69D0CD3BEC3A}" dt="2026-07-23T04:52:27.202" v="4" actId="14100"/>
          <ac:picMkLst>
            <pc:docMk/>
            <pc:sldMk cId="0" sldId="259"/>
            <ac:picMk id="5" creationId="{23DFDD02-BF0D-02E1-91B7-174236CE513F}"/>
          </ac:picMkLst>
        </pc:picChg>
      </pc:sldChg>
      <pc:sldChg chg="addSp delSp modSp mod">
        <pc:chgData name="Trapti Chauhan" userId="67d7e26835183ae7" providerId="LiveId" clId="{923EE061-BD1F-492F-80FF-69D0CD3BEC3A}" dt="2026-07-23T05:00:32.107" v="65" actId="14100"/>
        <pc:sldMkLst>
          <pc:docMk/>
          <pc:sldMk cId="0" sldId="260"/>
        </pc:sldMkLst>
        <pc:spChg chg="del">
          <ac:chgData name="Trapti Chauhan" userId="67d7e26835183ae7" providerId="LiveId" clId="{923EE061-BD1F-492F-80FF-69D0CD3BEC3A}" dt="2026-07-23T04:53:59.150" v="1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4:54:06.286" v="19" actId="20577"/>
          <ac:spMkLst>
            <pc:docMk/>
            <pc:sldMk cId="0" sldId="260"/>
            <ac:spMk id="4" creationId="{00000000-0000-0000-0000-000000000000}"/>
          </ac:spMkLst>
        </pc:spChg>
        <pc:picChg chg="add mod">
          <ac:chgData name="Trapti Chauhan" userId="67d7e26835183ae7" providerId="LiveId" clId="{923EE061-BD1F-492F-80FF-69D0CD3BEC3A}" dt="2026-07-23T05:00:32.107" v="65" actId="14100"/>
          <ac:picMkLst>
            <pc:docMk/>
            <pc:sldMk cId="0" sldId="260"/>
            <ac:picMk id="6" creationId="{A124A8EB-42D2-973D-B032-8976A95AA26C}"/>
          </ac:picMkLst>
        </pc:picChg>
        <pc:picChg chg="add mod">
          <ac:chgData name="Trapti Chauhan" userId="67d7e26835183ae7" providerId="LiveId" clId="{923EE061-BD1F-492F-80FF-69D0CD3BEC3A}" dt="2026-07-23T04:59:48.604" v="62" actId="1076"/>
          <ac:picMkLst>
            <pc:docMk/>
            <pc:sldMk cId="0" sldId="260"/>
            <ac:picMk id="8" creationId="{F6A580CF-9FDA-78F6-5A7C-4194209ABAAB}"/>
          </ac:picMkLst>
        </pc:picChg>
      </pc:sldChg>
      <pc:sldChg chg="addSp delSp modSp mod">
        <pc:chgData name="Trapti Chauhan" userId="67d7e26835183ae7" providerId="LiveId" clId="{923EE061-BD1F-492F-80FF-69D0CD3BEC3A}" dt="2026-07-23T05:35:20.587" v="513" actId="14734"/>
        <pc:sldMkLst>
          <pc:docMk/>
          <pc:sldMk cId="0" sldId="261"/>
        </pc:sldMkLst>
        <pc:spChg chg="del">
          <ac:chgData name="Trapti Chauhan" userId="67d7e26835183ae7" providerId="LiveId" clId="{923EE061-BD1F-492F-80FF-69D0CD3BEC3A}" dt="2026-07-23T05:21:17.626" v="269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5:32:48.545" v="490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5:33:04.226" v="492" actId="14100"/>
          <ac:spMkLst>
            <pc:docMk/>
            <pc:sldMk cId="0" sldId="261"/>
            <ac:spMk id="6" creationId="{43376634-7FAA-8FAE-188A-F079FFD4AEC2}"/>
          </ac:spMkLst>
        </pc:spChg>
        <pc:graphicFrameChg chg="add del mod modGraphic">
          <ac:chgData name="Trapti Chauhan" userId="67d7e26835183ae7" providerId="LiveId" clId="{923EE061-BD1F-492F-80FF-69D0CD3BEC3A}" dt="2026-07-23T05:27:50.135" v="419" actId="478"/>
          <ac:graphicFrameMkLst>
            <pc:docMk/>
            <pc:sldMk cId="0" sldId="261"/>
            <ac:graphicFrameMk id="5" creationId="{597E3084-20AB-BAC2-F815-4E63576A3990}"/>
          </ac:graphicFrameMkLst>
        </pc:graphicFrameChg>
        <pc:graphicFrameChg chg="add mod modGraphic">
          <ac:chgData name="Trapti Chauhan" userId="67d7e26835183ae7" providerId="LiveId" clId="{923EE061-BD1F-492F-80FF-69D0CD3BEC3A}" dt="2026-07-23T05:35:20.587" v="513" actId="14734"/>
          <ac:graphicFrameMkLst>
            <pc:docMk/>
            <pc:sldMk cId="0" sldId="261"/>
            <ac:graphicFrameMk id="7" creationId="{597DF240-BC11-B10B-5A29-02F1446BC6FB}"/>
          </ac:graphicFrameMkLst>
        </pc:graphicFrameChg>
      </pc:sldChg>
      <pc:sldChg chg="addSp delSp modSp mod">
        <pc:chgData name="Trapti Chauhan" userId="67d7e26835183ae7" providerId="LiveId" clId="{923EE061-BD1F-492F-80FF-69D0CD3BEC3A}" dt="2026-07-23T05:18:57.359" v="268" actId="14100"/>
        <pc:sldMkLst>
          <pc:docMk/>
          <pc:sldMk cId="0" sldId="262"/>
        </pc:sldMkLst>
        <pc:spChg chg="del">
          <ac:chgData name="Trapti Chauhan" userId="67d7e26835183ae7" providerId="LiveId" clId="{923EE061-BD1F-492F-80FF-69D0CD3BEC3A}" dt="2026-07-23T05:15:52.747" v="217" actId="478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Trapti Chauhan" userId="67d7e26835183ae7" providerId="LiveId" clId="{923EE061-BD1F-492F-80FF-69D0CD3BEC3A}" dt="2026-07-23T05:18:43.060" v="264" actId="14100"/>
          <ac:spMkLst>
            <pc:docMk/>
            <pc:sldMk cId="0" sldId="262"/>
            <ac:spMk id="4" creationId="{F29E2A6C-745F-621D-9389-32A1D3B6E6F2}"/>
          </ac:spMkLst>
        </pc:spChg>
        <pc:spChg chg="del mod">
          <ac:chgData name="Trapti Chauhan" userId="67d7e26835183ae7" providerId="LiveId" clId="{923EE061-BD1F-492F-80FF-69D0CD3BEC3A}" dt="2026-07-23T05:18:01.383" v="257"/>
          <ac:spMkLst>
            <pc:docMk/>
            <pc:sldMk cId="0" sldId="262"/>
            <ac:spMk id="7" creationId="{37A5C794-CEFD-4D33-407E-B30861B5BFEA}"/>
          </ac:spMkLst>
        </pc:spChg>
        <pc:graphicFrameChg chg="mod modGraphic">
          <ac:chgData name="Trapti Chauhan" userId="67d7e26835183ae7" providerId="LiveId" clId="{923EE061-BD1F-492F-80FF-69D0CD3BEC3A}" dt="2026-07-23T05:18:57.359" v="268" actId="14100"/>
          <ac:graphicFrameMkLst>
            <pc:docMk/>
            <pc:sldMk cId="0" sldId="262"/>
            <ac:graphicFrameMk id="8" creationId="{94DD87E9-5CA1-596F-C7C7-85F120F89D1D}"/>
          </ac:graphicFrameMkLst>
        </pc:graphicFrameChg>
      </pc:sldChg>
      <pc:sldChg chg="delSp modSp mod">
        <pc:chgData name="Trapti Chauhan" userId="67d7e26835183ae7" providerId="LiveId" clId="{923EE061-BD1F-492F-80FF-69D0CD3BEC3A}" dt="2026-07-23T06:02:26.724" v="527" actId="14100"/>
        <pc:sldMkLst>
          <pc:docMk/>
          <pc:sldMk cId="0" sldId="263"/>
        </pc:sldMkLst>
        <pc:spChg chg="del">
          <ac:chgData name="Trapti Chauhan" userId="67d7e26835183ae7" providerId="LiveId" clId="{923EE061-BD1F-492F-80FF-69D0CD3BEC3A}" dt="2026-07-23T05:02:44.920" v="122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6:02:26.724" v="527" actId="14100"/>
          <ac:spMkLst>
            <pc:docMk/>
            <pc:sldMk cId="0" sldId="263"/>
            <ac:spMk id="5" creationId="{00000000-0000-0000-0000-000000000000}"/>
          </ac:spMkLst>
        </pc:spChg>
        <pc:graphicFrameChg chg="mod modGraphic">
          <ac:chgData name="Trapti Chauhan" userId="67d7e26835183ae7" providerId="LiveId" clId="{923EE061-BD1F-492F-80FF-69D0CD3BEC3A}" dt="2026-07-23T06:02:20.103" v="526" actId="14100"/>
          <ac:graphicFrameMkLst>
            <pc:docMk/>
            <pc:sldMk cId="0" sldId="263"/>
            <ac:graphicFrameMk id="6" creationId="{3E714EF0-BD9B-260E-974D-D80E4BD182FD}"/>
          </ac:graphicFrameMkLst>
        </pc:graphicFrameChg>
      </pc:sldChg>
      <pc:sldChg chg="addSp delSp modSp mod">
        <pc:chgData name="Trapti Chauhan" userId="67d7e26835183ae7" providerId="LiveId" clId="{923EE061-BD1F-492F-80FF-69D0CD3BEC3A}" dt="2026-07-23T05:05:32.253" v="137" actId="14100"/>
        <pc:sldMkLst>
          <pc:docMk/>
          <pc:sldMk cId="0" sldId="264"/>
        </pc:sldMkLst>
        <pc:spChg chg="del">
          <ac:chgData name="Trapti Chauhan" userId="67d7e26835183ae7" providerId="LiveId" clId="{923EE061-BD1F-492F-80FF-69D0CD3BEC3A}" dt="2026-07-23T05:04:55.383" v="127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Trapti Chauhan" userId="67d7e26835183ae7" providerId="LiveId" clId="{923EE061-BD1F-492F-80FF-69D0CD3BEC3A}" dt="2026-07-23T05:05:24.674" v="136" actId="20577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Trapti Chauhan" userId="67d7e26835183ae7" providerId="LiveId" clId="{923EE061-BD1F-492F-80FF-69D0CD3BEC3A}" dt="2026-07-23T05:05:32.253" v="137" actId="14100"/>
          <ac:picMkLst>
            <pc:docMk/>
            <pc:sldMk cId="0" sldId="264"/>
            <ac:picMk id="7" creationId="{4DE9CCC3-9216-5A6A-AF47-DD1E0836A067}"/>
          </ac:picMkLst>
        </pc:picChg>
      </pc:sldChg>
      <pc:sldChg chg="modSp mod">
        <pc:chgData name="Trapti Chauhan" userId="67d7e26835183ae7" providerId="LiveId" clId="{923EE061-BD1F-492F-80FF-69D0CD3BEC3A}" dt="2026-07-23T06:02:36.400" v="528" actId="14100"/>
        <pc:sldMkLst>
          <pc:docMk/>
          <pc:sldMk cId="0" sldId="265"/>
        </pc:sldMkLst>
        <pc:spChg chg="mod">
          <ac:chgData name="Trapti Chauhan" userId="67d7e26835183ae7" providerId="LiveId" clId="{923EE061-BD1F-492F-80FF-69D0CD3BEC3A}" dt="2026-07-23T06:02:36.400" v="528" actId="14100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Trapti Chauhan" userId="67d7e26835183ae7" providerId="LiveId" clId="{923EE061-BD1F-492F-80FF-69D0CD3BEC3A}" dt="2026-07-23T06:02:41.090" v="529" actId="14100"/>
        <pc:sldMkLst>
          <pc:docMk/>
          <pc:sldMk cId="0" sldId="266"/>
        </pc:sldMkLst>
        <pc:spChg chg="mod">
          <ac:chgData name="Trapti Chauhan" userId="67d7e26835183ae7" providerId="LiveId" clId="{923EE061-BD1F-492F-80FF-69D0CD3BEC3A}" dt="2026-07-23T06:02:41.090" v="529" actId="14100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Trapti Chauhan" userId="67d7e26835183ae7" providerId="LiveId" clId="{923EE061-BD1F-492F-80FF-69D0CD3BEC3A}" dt="2026-07-23T06:02:45.975" v="530" actId="14100"/>
        <pc:sldMkLst>
          <pc:docMk/>
          <pc:sldMk cId="0" sldId="267"/>
        </pc:sldMkLst>
        <pc:spChg chg="mod">
          <ac:chgData name="Trapti Chauhan" userId="67d7e26835183ae7" providerId="LiveId" clId="{923EE061-BD1F-492F-80FF-69D0CD3BEC3A}" dt="2026-07-23T06:02:45.975" v="530" actId="14100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A7DD6-B8A0-BDF1-4228-448D6997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00000"/>
            <a:ext cx="12191695" cy="63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1" y="1097280"/>
            <a:ext cx="4612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sz="1600" dirty="0"/>
              <a:t>Key Points</a:t>
            </a:r>
            <a:r>
              <a:rPr lang="en-IN" sz="1600" dirty="0"/>
              <a:t>Predict whether a telecom customer will churn.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Analyze customer behaviour using SQL and Python.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Compare multiple machine learning models.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Identify important factors affecting churn using SHAP.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Provide business recommendations to reduce customer churn.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9A564-2277-60CF-8EA4-5AE8D3228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963560"/>
            <a:ext cx="6457950" cy="5361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71328-387F-C13C-1C8B-4EC8E900002A}"/>
              </a:ext>
            </a:extLst>
          </p:cNvPr>
          <p:cNvSpPr txBox="1"/>
          <p:nvPr/>
        </p:nvSpPr>
        <p:spPr>
          <a:xfrm>
            <a:off x="6418923" y="4617720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Target Variable: </a:t>
            </a:r>
            <a:r>
              <a:rPr lang="en-IN" b="1" dirty="0"/>
              <a:t>Churn (Yes/No)  </a:t>
            </a:r>
            <a:endParaRPr lang="en-I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8ED0F17-FD37-D0D8-DAFD-7C47109EA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65986"/>
              </p:ext>
            </p:extLst>
          </p:nvPr>
        </p:nvGraphicFramePr>
        <p:xfrm>
          <a:off x="7018637" y="1097280"/>
          <a:ext cx="4827373" cy="30988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423744">
                  <a:extLst>
                    <a:ext uri="{9D8B030D-6E8A-4147-A177-3AD203B41FA5}">
                      <a16:colId xmlns:a16="http://schemas.microsoft.com/office/drawing/2014/main" val="814891591"/>
                    </a:ext>
                  </a:extLst>
                </a:gridCol>
                <a:gridCol w="2403629">
                  <a:extLst>
                    <a:ext uri="{9D8B030D-6E8A-4147-A177-3AD203B41FA5}">
                      <a16:colId xmlns:a16="http://schemas.microsoft.com/office/drawing/2014/main" val="496696865"/>
                    </a:ext>
                  </a:extLst>
                </a:gridCol>
              </a:tblGrid>
              <a:tr h="510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839593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Telco Customer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021489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(7.043)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218036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(21)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61028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36524"/>
                  </a:ext>
                </a:extLst>
              </a:tr>
              <a:tr h="51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18390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81DDA17-3C93-444A-BF11-EFEDA09FD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89" y="1097280"/>
            <a:ext cx="6072934" cy="4067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1440" y="1097280"/>
            <a:ext cx="40538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IN" sz="2000" dirty="0"/>
              <a:t>Data Cleaning Performed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Dataset contains 7,043 rows and 21 columns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Converted </a:t>
            </a:r>
            <a:r>
              <a:rPr lang="en-IN" sz="1600" b="1" dirty="0"/>
              <a:t>TotalCharges</a:t>
            </a:r>
            <a:r>
              <a:rPr lang="en-IN" sz="1600" dirty="0"/>
              <a:t> to numeric.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Handled missing values.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No duplicate records found 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Encoded categorical variables.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Prepared dataset for machine learning.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FDD02-BF0D-02E1-91B7-174236CE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727586"/>
            <a:ext cx="6110825" cy="59091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Exploratory Data Analysis (</a:t>
            </a:r>
            <a:r>
              <a:rPr dirty="0"/>
              <a:t>EDA</a:t>
            </a:r>
            <a:r>
              <a:rPr lang="en-IN" dirty="0"/>
              <a:t>)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406640" y="1097280"/>
            <a:ext cx="4561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sz="2000" dirty="0"/>
              <a:t>Key </a:t>
            </a:r>
            <a:r>
              <a:rPr lang="en-IN" sz="2000" dirty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Month-to-month contracts show higher churn.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Customers with short tenure churn more.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Monthly charges influence churn.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1600" dirty="0"/>
              <a:t>Customer behaviour differs across contract and service types.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4A8EB-42D2-973D-B032-8976A95AA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82" y="648929"/>
            <a:ext cx="5591179" cy="3254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A580CF-9FDA-78F6-5A7C-4194209A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83" y="4052335"/>
            <a:ext cx="5738357" cy="2831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58150" y="1097280"/>
            <a:ext cx="3581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sz="2000" dirty="0"/>
              <a:t>Key Points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Total Customers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Contract-wise Churn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Payment Method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Internet Service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Monthly Charges by Churn</a:t>
            </a: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376634-7FAA-8FAE-188A-F079FFD4AEC2}"/>
              </a:ext>
            </a:extLst>
          </p:cNvPr>
          <p:cNvSpPr txBox="1"/>
          <p:nvPr/>
        </p:nvSpPr>
        <p:spPr>
          <a:xfrm>
            <a:off x="8058150" y="3821730"/>
            <a:ext cx="377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SQL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Aggregated customer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Compared churn across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Identified customer behaviour patterns</a:t>
            </a:r>
            <a:r>
              <a:rPr lang="en-IN" sz="2000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7DF240-BC11-B10B-5A29-02F1446BC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914583"/>
              </p:ext>
            </p:extLst>
          </p:nvPr>
        </p:nvGraphicFramePr>
        <p:xfrm>
          <a:off x="352426" y="944807"/>
          <a:ext cx="7562850" cy="550544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249982">
                  <a:extLst>
                    <a:ext uri="{9D8B030D-6E8A-4147-A177-3AD203B41FA5}">
                      <a16:colId xmlns:a16="http://schemas.microsoft.com/office/drawing/2014/main" val="2872284565"/>
                    </a:ext>
                  </a:extLst>
                </a:gridCol>
                <a:gridCol w="1998117">
                  <a:extLst>
                    <a:ext uri="{9D8B030D-6E8A-4147-A177-3AD203B41FA5}">
                      <a16:colId xmlns:a16="http://schemas.microsoft.com/office/drawing/2014/main" val="2293305564"/>
                    </a:ext>
                  </a:extLst>
                </a:gridCol>
                <a:gridCol w="2314751">
                  <a:extLst>
                    <a:ext uri="{9D8B030D-6E8A-4147-A177-3AD203B41FA5}">
                      <a16:colId xmlns:a16="http://schemas.microsoft.com/office/drawing/2014/main" val="1596041074"/>
                    </a:ext>
                  </a:extLst>
                </a:gridCol>
              </a:tblGrid>
              <a:tr h="390286">
                <a:tc>
                  <a:txBody>
                    <a:bodyPr/>
                    <a:lstStyle/>
                    <a:p>
                      <a:r>
                        <a:rPr lang="en-IN" sz="2000" dirty="0"/>
                        <a:t>Total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19560"/>
                  </a:ext>
                </a:extLst>
              </a:tr>
              <a:tr h="594359">
                <a:tc>
                  <a:txBody>
                    <a:bodyPr/>
                    <a:lstStyle/>
                    <a:p>
                      <a:r>
                        <a:rPr lang="en-IN" sz="2000" b="1" dirty="0"/>
                        <a:t>Contract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Month-to-month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127766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One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462474"/>
                  </a:ext>
                </a:extLst>
              </a:tr>
              <a:tr h="413571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Two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593466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r>
                        <a:rPr lang="en-IN" sz="2000" b="1" dirty="0"/>
                        <a:t>Payment Method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Bank transfer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308267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Credit card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1552722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Electronic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39903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Mailed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1604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635086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r>
                        <a:rPr lang="en-IN" sz="2000" b="1" dirty="0"/>
                        <a:t>Internet Service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DSL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2416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142177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Fiber optic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3096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457591"/>
                  </a:ext>
                </a:extLst>
              </a:tr>
              <a:tr h="39028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1520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21411"/>
                  </a:ext>
                </a:extLst>
              </a:tr>
              <a:tr h="519953">
                <a:tc>
                  <a:txBody>
                    <a:bodyPr/>
                    <a:lstStyle/>
                    <a:p>
                      <a:r>
                        <a:rPr lang="en-IN" sz="2000" b="1" dirty="0"/>
                        <a:t>Monthly Charges by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61.30740848343966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021493"/>
                  </a:ext>
                </a:extLst>
              </a:tr>
              <a:tr h="41140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74.4413322632423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0140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ML Models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26676A-596B-0ECB-616A-C10853114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8676"/>
              </p:ext>
            </p:extLst>
          </p:nvPr>
        </p:nvGraphicFramePr>
        <p:xfrm>
          <a:off x="7589520" y="1866721"/>
          <a:ext cx="4236720" cy="2187120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4076314238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965524344"/>
                    </a:ext>
                  </a:extLst>
                </a:gridCol>
              </a:tblGrid>
              <a:tr h="3952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91264"/>
                  </a:ext>
                </a:extLst>
              </a:tr>
              <a:tr h="5409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678272"/>
                  </a:ext>
                </a:extLst>
              </a:tr>
              <a:tr h="6254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799164"/>
                  </a:ext>
                </a:extLst>
              </a:tr>
              <a:tr h="62546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50570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DD87E9-5CA1-596F-C7C7-85F120F89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674856"/>
              </p:ext>
            </p:extLst>
          </p:nvPr>
        </p:nvGraphicFramePr>
        <p:xfrm>
          <a:off x="6096000" y="1036319"/>
          <a:ext cx="5222790" cy="430887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11395">
                  <a:extLst>
                    <a:ext uri="{9D8B030D-6E8A-4147-A177-3AD203B41FA5}">
                      <a16:colId xmlns:a16="http://schemas.microsoft.com/office/drawing/2014/main" val="3607269048"/>
                    </a:ext>
                  </a:extLst>
                </a:gridCol>
                <a:gridCol w="2611395">
                  <a:extLst>
                    <a:ext uri="{9D8B030D-6E8A-4147-A177-3AD203B41FA5}">
                      <a16:colId xmlns:a16="http://schemas.microsoft.com/office/drawing/2014/main" val="2363327149"/>
                    </a:ext>
                  </a:extLst>
                </a:gridCol>
              </a:tblGrid>
              <a:tr h="1058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636392"/>
                  </a:ext>
                </a:extLst>
              </a:tr>
              <a:tr h="1058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076319"/>
                  </a:ext>
                </a:extLst>
              </a:tr>
              <a:tr h="1024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Rule-based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466048"/>
                  </a:ext>
                </a:extLst>
              </a:tr>
              <a:tr h="116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Ensemble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9959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9E2A6C-745F-621D-9389-32A1D3B6E6F2}"/>
              </a:ext>
            </a:extLst>
          </p:cNvPr>
          <p:cNvSpPr txBox="1"/>
          <p:nvPr/>
        </p:nvSpPr>
        <p:spPr>
          <a:xfrm>
            <a:off x="1309816" y="1161535"/>
            <a:ext cx="357110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Project Workflow</a:t>
            </a:r>
          </a:p>
          <a:p>
            <a:pPr algn="ctr"/>
            <a:endParaRPr lang="en-IN" b="1" dirty="0"/>
          </a:p>
          <a:p>
            <a:pPr algn="ctr"/>
            <a:r>
              <a:rPr lang="en-IN" dirty="0"/>
              <a:t>Dataset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Data Cleaning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Feature Encoding</a:t>
            </a:r>
          </a:p>
          <a:p>
            <a:pPr algn="ctr"/>
            <a:r>
              <a:rPr lang="en-IN" dirty="0"/>
              <a:t> ↓ </a:t>
            </a:r>
          </a:p>
          <a:p>
            <a:pPr algn="ctr"/>
            <a:r>
              <a:rPr lang="en-IN" dirty="0"/>
              <a:t>Train-Test Split (80:20)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Model Training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Prediction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606" y="5974080"/>
            <a:ext cx="7315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IN" sz="2000" b="1" dirty="0"/>
              <a:t>Best Model: Random Forest achieved the highest accuracy.</a:t>
            </a:r>
            <a:endParaRPr sz="2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714EF0-BD9B-260E-974D-D80E4BD18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16933"/>
              </p:ext>
            </p:extLst>
          </p:nvPr>
        </p:nvGraphicFramePr>
        <p:xfrm>
          <a:off x="550606" y="1005839"/>
          <a:ext cx="6047902" cy="36403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023951">
                  <a:extLst>
                    <a:ext uri="{9D8B030D-6E8A-4147-A177-3AD203B41FA5}">
                      <a16:colId xmlns:a16="http://schemas.microsoft.com/office/drawing/2014/main" val="2732112004"/>
                    </a:ext>
                  </a:extLst>
                </a:gridCol>
                <a:gridCol w="3023951">
                  <a:extLst>
                    <a:ext uri="{9D8B030D-6E8A-4147-A177-3AD203B41FA5}">
                      <a16:colId xmlns:a16="http://schemas.microsoft.com/office/drawing/2014/main" val="3021026015"/>
                    </a:ext>
                  </a:extLst>
                </a:gridCol>
              </a:tblGrid>
              <a:tr h="91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684894"/>
                  </a:ext>
                </a:extLst>
              </a:tr>
              <a:tr h="91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(80%)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8698957"/>
                  </a:ext>
                </a:extLst>
              </a:tr>
              <a:tr h="91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(78%)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706886"/>
                  </a:ext>
                </a:extLst>
              </a:tr>
              <a:tr h="910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i="1" dirty="0"/>
                        <a:t>(84%)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220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SHAP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3040" y="1097280"/>
            <a:ext cx="40030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IN" sz="2000" dirty="0"/>
              <a:t>Important Features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Contract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Tenure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MonthlyCharges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TotalCharges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InternetService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60462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lang="en-IN" sz="1600" b="1" dirty="0"/>
              <a:t> SHAP explains which features contributed most to churn prediction. </a:t>
            </a:r>
            <a:endParaRPr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E9CCC3-9216-5A6A-AF47-DD1E0836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41" y="889685"/>
            <a:ext cx="4609069" cy="5165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1780" y="1097280"/>
            <a:ext cx="1113109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Key </a:t>
            </a:r>
            <a:r>
              <a:rPr lang="en-IN" dirty="0"/>
              <a:t>Insights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Month-to-month customers are more likely to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Short-tenure customers show higher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Higher monthly charges are associated with churn.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Contract type is an important predictor.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Random Forest performed best.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SHAP identified the most influential features.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16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Business </a:t>
            </a:r>
            <a:r>
              <a:rPr dirty="0"/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942" y="1097280"/>
            <a:ext cx="1108193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Key Points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Offer discounts to month-to-month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Encourage long-term contracts.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Reward loyal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Monitor high-risk customers.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Improve customer support.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sz="2000" dirty="0"/>
              <a:t>Use predictive analytics for retention.</a:t>
            </a: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Telecom Customer Churn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62116" y="1097280"/>
            <a:ext cx="107748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This project successfully analyzed telecom customer churn using SQL, Python, and machine learning techniques.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Multiple classification models were trained and evaluated, and SHAP was used to explain model predictions.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 b="1"/>
            </a:pPr>
            <a:r>
              <a:rPr lang="en-IN" dirty="0"/>
              <a:t>The findings can help telecom companies identify customers at risk of leaving and implement effective retention strategies.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221D4-FC80-D971-27DD-BD3D489E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964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41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451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Trapti Chauhan</cp:lastModifiedBy>
  <cp:revision>2</cp:revision>
  <dcterms:created xsi:type="dcterms:W3CDTF">2013-01-27T09:14:16Z</dcterms:created>
  <dcterms:modified xsi:type="dcterms:W3CDTF">2026-07-23T07:12:46Z</dcterms:modified>
  <cp:category/>
</cp:coreProperties>
</file>